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3431" y="1015901"/>
            <a:ext cx="3297138" cy="393502"/>
          </a:xfrm>
          <a:prstGeom prst="roundRect">
            <a:avLst>
              <a:gd name="adj" fmla="val 80686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1381" y="1117402"/>
            <a:ext cx="23268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스마트 물류관리 시스템 구축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97050" y="1599902"/>
            <a:ext cx="6349901" cy="1265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91440" y="2120503"/>
            <a:ext cx="93268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4000"/>
              </a:spcBef>
              <a:buNone/>
            </a:pPr>
            <a:r>
              <a:rPr lang="en-US" sz="3000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</a:t>
            </a:r>
            <a:endParaRPr lang="en-US" sz="3000" dirty="0"/>
          </a:p>
          <a:p>
            <a:pPr algn="ctr" indent="0" marL="0">
              <a:lnSpc>
                <a:spcPts val="4200"/>
              </a:lnSpc>
              <a:spcBef>
                <a:spcPts val="4000"/>
              </a:spcBef>
              <a:buNone/>
            </a:pPr>
            <a:r>
              <a:rPr lang="en-US" sz="3000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프로젝트 수행계획서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-91440" y="3377803"/>
            <a:ext cx="932688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Bef>
                <a:spcPts val="1500"/>
              </a:spcBef>
              <a:buNone/>
            </a:pPr>
            <a:r>
              <a:rPr lang="en-US" sz="9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발주기관: (주)글로벌물류 | 수행사: (주)테크솔루션</a:t>
            </a:r>
            <a:endParaRPr lang="en-US" sz="900" dirty="0"/>
          </a:p>
          <a:p>
            <a:pPr algn="ctr" indent="0" marL="0">
              <a:lnSpc>
                <a:spcPts val="1620"/>
              </a:lnSpc>
              <a:spcBef>
                <a:spcPts val="1500"/>
              </a:spcBef>
              <a:buNone/>
            </a:pPr>
            <a:r>
              <a:rPr lang="en-US" sz="9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계약기간: 2025-01-06 ~ 2025-12-31 (12개월) | 계약금액: 15억원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97050" y="3979664"/>
            <a:ext cx="6349901" cy="1265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-91440" y="4373314"/>
            <a:ext cx="9326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100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경영지원팀 김철수 차장 (PM)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179070" y="4930825"/>
            <a:ext cx="91325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2890"/>
              </a:spcBef>
              <a:spcAft>
                <a:spcPts val="1000"/>
              </a:spcAft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DOC-PRJ-2025-001-001 | v1.0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762000"/>
            <a:ext cx="8679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0"/>
              </a:spcBef>
              <a:buNone/>
            </a:pPr>
            <a:r>
              <a:rPr lang="en-US" sz="18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1282601"/>
            <a:ext cx="5829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6401" y="1282601"/>
            <a:ext cx="7448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6401" y="1520726"/>
            <a:ext cx="7448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정보, 배경 및 목적, 범위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34901" y="1816001"/>
            <a:ext cx="5829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6401" y="1816001"/>
            <a:ext cx="7448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 및 방법론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6401" y="2054126"/>
            <a:ext cx="7448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전략, 수행 방법론, 기술 아키텍처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4901" y="2349401"/>
            <a:ext cx="5829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6401" y="2349401"/>
            <a:ext cx="7448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조직 및 역할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6401" y="2587526"/>
            <a:ext cx="7448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조직별 R&amp;R, 투입 인력 현황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4901" y="2882801"/>
            <a:ext cx="5829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6401" y="2882801"/>
            <a:ext cx="7448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일정 및 산출물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6401" y="3120926"/>
            <a:ext cx="7448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 일정, 마일스톤, 산출물 목록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4901" y="3416201"/>
            <a:ext cx="5829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6401" y="3416201"/>
            <a:ext cx="7448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품질/보안/위험 관리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6401" y="3654326"/>
            <a:ext cx="7448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보증, 보안 관리, 위험 대응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4901" y="3949601"/>
            <a:ext cx="5829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6401" y="3949601"/>
            <a:ext cx="7448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및 의사소통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6401" y="4187726"/>
            <a:ext cx="7448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계획, 기술이전, 보고 체계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17231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1851" y="27771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850850"/>
            <a:ext cx="8255198" cy="749201"/>
          </a:xfrm>
          <a:prstGeom prst="roundRect">
            <a:avLst>
              <a:gd name="adj" fmla="val 1017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003250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비전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129525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스마트 물류관리 시스템 구축을 통한 물류 처리 효율 30% 향상, 재고 정확도 99.5% 달성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4401" y="1752451"/>
            <a:ext cx="4080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4401" y="2044452"/>
            <a:ext cx="4000649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98950" y="1752451"/>
            <a:ext cx="4080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및 문제점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98950" y="2044452"/>
            <a:ext cx="4000649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98950" y="2171254"/>
            <a:ext cx="4000649" cy="8316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98950" y="2176016"/>
            <a:ext cx="4000649" cy="0"/>
          </a:xfrm>
          <a:prstGeom prst="line">
            <a:avLst/>
          </a:prstGeom>
          <a:noFill/>
          <a:ln w="9525">
            <a:solidFill>
              <a:srgbClr val="8B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94837" y="2171254"/>
            <a:ext cx="0" cy="831652"/>
          </a:xfrm>
          <a:prstGeom prst="line">
            <a:avLst/>
          </a:prstGeom>
          <a:noFill/>
          <a:ln w="9525">
            <a:solidFill>
              <a:srgbClr val="8B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98950" y="2998143"/>
            <a:ext cx="4000649" cy="0"/>
          </a:xfrm>
          <a:prstGeom prst="line">
            <a:avLst/>
          </a:prstGeom>
          <a:noFill/>
          <a:ln w="9525">
            <a:solidFill>
              <a:srgbClr val="8BA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000" y="2171254"/>
            <a:ext cx="0" cy="831652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8551" y="2282279"/>
            <a:ext cx="3750022" cy="609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 이상 운영된 레거시 시스템</a:t>
            </a:r>
            <a:endParaRPr lang="en-US" sz="800" dirty="0"/>
          </a:p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속도 저하로 인한 업무 지연</a:t>
            </a:r>
            <a:endParaRPr lang="en-US" sz="800" dirty="0"/>
          </a:p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 파악 불가</a:t>
            </a:r>
            <a:endParaRPr lang="en-US" sz="800" dirty="0"/>
          </a:p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시스템 연동 한계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98950" y="3104406"/>
            <a:ext cx="4080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8950" y="3396407"/>
            <a:ext cx="4000649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98950" y="3523208"/>
            <a:ext cx="4000649" cy="679252"/>
          </a:xfrm>
          <a:prstGeom prst="rect">
            <a:avLst/>
          </a:prstGeom>
          <a:solidFill>
            <a:srgbClr val="E8F5E9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9976" y="3634234"/>
            <a:ext cx="3778597" cy="4572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물류 처리 효율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향상</a:t>
            </a:r>
            <a:endParaRPr lang="en-US" sz="800" dirty="0"/>
          </a:p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정확도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 달성</a:t>
            </a:r>
            <a:endParaRPr lang="en-US" sz="800" dirty="0"/>
          </a:p>
          <a:p>
            <a:pPr algn="l" marL="76200" indent="-762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절감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2171254"/>
          <a:ext cx="3746450" cy="15240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프로젝트명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스마트 물류관리 시스템 구축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발주기관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(주)글로벌물류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수행사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(주)테크솔루션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계약금액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15억원 (VAT 별도)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계약기간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2025-01-06 ~ 2025-12-31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17231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범위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1851" y="27771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825401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범위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117402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1244203"/>
            <a:ext cx="1968550" cy="850404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3926" y="1253728"/>
            <a:ext cx="1949500" cy="323552"/>
          </a:xfrm>
          <a:prstGeom prst="roundRect">
            <a:avLst>
              <a:gd name="adj" fmla="val 1570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9100" y="1317129"/>
            <a:ext cx="18591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4431" y="1678781"/>
            <a:ext cx="1988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창고관리시스템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4431" y="1869281"/>
            <a:ext cx="1988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입출고, 재고, 피킹/패킹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39901" y="1244203"/>
            <a:ext cx="1968550" cy="850404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49426" y="1253728"/>
            <a:ext cx="1949500" cy="323552"/>
          </a:xfrm>
          <a:prstGeom prst="roundRect">
            <a:avLst>
              <a:gd name="adj" fmla="val 1570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94600" y="1317129"/>
            <a:ext cx="18591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29931" y="1678781"/>
            <a:ext cx="1988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배송관리시스템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29931" y="1869281"/>
            <a:ext cx="1988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배차, 경로최적화, 추적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35401" y="1244203"/>
            <a:ext cx="1968550" cy="850404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44926" y="1253728"/>
            <a:ext cx="1949500" cy="323552"/>
          </a:xfrm>
          <a:prstGeom prst="roundRect">
            <a:avLst>
              <a:gd name="adj" fmla="val 1570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90100" y="1317129"/>
            <a:ext cx="18591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625431" y="1678781"/>
            <a:ext cx="1988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주문관리시스템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5431" y="1869281"/>
            <a:ext cx="1988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주문접수, 할당, 정산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730901" y="1244203"/>
            <a:ext cx="1968550" cy="850404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40426" y="1253728"/>
            <a:ext cx="1949500" cy="323552"/>
          </a:xfrm>
          <a:prstGeom prst="roundRect">
            <a:avLst>
              <a:gd name="adj" fmla="val 1570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85600" y="1317129"/>
            <a:ext cx="18591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720931" y="1678781"/>
            <a:ext cx="1988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통합모니터링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931" y="1869281"/>
            <a:ext cx="1988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현황, KPI, 리포트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44401" y="2247007"/>
            <a:ext cx="4080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범위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4401" y="2539008"/>
            <a:ext cx="4000649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98950" y="2247007"/>
            <a:ext cx="4080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 범위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98950" y="2539008"/>
            <a:ext cx="4000649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2665809"/>
          <a:ext cx="3746450" cy="1206401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</a:tblGrid>
              <a:tr h="241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범위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241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입고/출고 관리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4개 핵심 모듈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재고 관리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실시간 추적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배송 추적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GPS 연동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정산 시스템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자동화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8950" y="2665809"/>
          <a:ext cx="3746450" cy="1206401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</a:tblGrid>
              <a:tr h="30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0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회계 시스템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인터페이스만 개발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HR 시스템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인터페이스만 개발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기존 ERP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인터페이스만 개발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23189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1851" y="27771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825401"/>
            <a:ext cx="8255198" cy="657076"/>
          </a:xfrm>
          <a:prstGeom prst="roundRect">
            <a:avLst>
              <a:gd name="adj" fmla="val 11597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952351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203127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"안정적 전환"과 "혁신적 기능 구현"의 균형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4401" y="1609427"/>
            <a:ext cx="2650182" cy="947440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7104" y="1745903"/>
            <a:ext cx="24247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전환 전략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104" y="1993553"/>
            <a:ext cx="2424776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Bang 방식이 아닌
모듈별 순차 전환으로
</a:t>
            </a:r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최소화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46983" y="1609427"/>
            <a:ext cx="2650182" cy="947440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59686" y="1745903"/>
            <a:ext cx="24247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애자일 기반 개발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9686" y="1993553"/>
            <a:ext cx="2424776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단위 스프린트로
빠른 피드백과
</a:t>
            </a:r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유연한 대응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49566" y="1609427"/>
            <a:ext cx="2650182" cy="947440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62269" y="1745903"/>
            <a:ext cx="24247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밀착 협업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62269" y="1993553"/>
            <a:ext cx="242477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2회 현업 리뷰를 통한
</a:t>
            </a:r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정합성 확보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4401" y="2683818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 방법론: Agile-Waterfall 하이브리드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06401" y="3102918"/>
            <a:ext cx="6731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00026" y="302671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802" y="3280618"/>
            <a:ext cx="1936998" cy="641152"/>
          </a:xfrm>
          <a:prstGeom prst="roundRect">
            <a:avLst>
              <a:gd name="adj" fmla="val 9904"/>
            </a:avLst>
          </a:prstGeom>
          <a:solidFill>
            <a:srgbClr val="FFFFFF"/>
          </a:solidFill>
          <a:ln w="9525">
            <a:solidFill>
              <a:srgbClr val="2252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1678" y="3391644"/>
            <a:ext cx="1749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1678" y="3582144"/>
            <a:ext cx="1749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분석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63826" y="302671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71601" y="3280618"/>
            <a:ext cx="1936998" cy="641152"/>
          </a:xfrm>
          <a:prstGeom prst="roundRect">
            <a:avLst>
              <a:gd name="adj" fmla="val 9904"/>
            </a:avLst>
          </a:prstGeom>
          <a:solidFill>
            <a:srgbClr val="FFFFFF"/>
          </a:solidFill>
          <a:ln w="9525">
            <a:solidFill>
              <a:srgbClr val="2252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665477" y="3391644"/>
            <a:ext cx="1749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65477" y="3582144"/>
            <a:ext cx="1749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아키텍처/UI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527625" y="302671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35401" y="3280618"/>
            <a:ext cx="1936998" cy="641152"/>
          </a:xfrm>
          <a:prstGeom prst="roundRect">
            <a:avLst>
              <a:gd name="adj" fmla="val 9904"/>
            </a:avLst>
          </a:prstGeom>
          <a:solidFill>
            <a:srgbClr val="FFFFFF"/>
          </a:solidFill>
          <a:ln w="9525">
            <a:solidFill>
              <a:srgbClr val="2252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29277" y="3391644"/>
            <a:ext cx="1749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29277" y="3582144"/>
            <a:ext cx="1749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구현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591425" y="302671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99200" y="3280618"/>
            <a:ext cx="1936998" cy="641152"/>
          </a:xfrm>
          <a:prstGeom prst="roundRect">
            <a:avLst>
              <a:gd name="adj" fmla="val 9904"/>
            </a:avLst>
          </a:prstGeom>
          <a:solidFill>
            <a:srgbClr val="FFFFFF"/>
          </a:solidFill>
          <a:ln w="9525">
            <a:solidFill>
              <a:srgbClr val="2252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93077" y="3391644"/>
            <a:ext cx="1749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테스트/이행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93077" y="3582144"/>
            <a:ext cx="1749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통합/인수 테스트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17231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기술 아키텍처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1851" y="27771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825401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117402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2895154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3187154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4401" y="3339405"/>
            <a:ext cx="617041" cy="241102"/>
          </a:xfrm>
          <a:prstGeom prst="roundRect">
            <a:avLst>
              <a:gd name="adj" fmla="val 6321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351" y="3402806"/>
            <a:ext cx="3704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7642" y="3339405"/>
            <a:ext cx="733574" cy="241102"/>
          </a:xfrm>
          <a:prstGeom prst="roundRect">
            <a:avLst>
              <a:gd name="adj" fmla="val 6321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64593" y="3402806"/>
            <a:ext cx="489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47416" y="3339405"/>
            <a:ext cx="784622" cy="241102"/>
          </a:xfrm>
          <a:prstGeom prst="roundRect">
            <a:avLst>
              <a:gd name="adj" fmla="val 6321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74366" y="3402806"/>
            <a:ext cx="5413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08238" y="3339405"/>
            <a:ext cx="609600" cy="241102"/>
          </a:xfrm>
          <a:prstGeom prst="roundRect">
            <a:avLst>
              <a:gd name="adj" fmla="val 6321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35188" y="3402806"/>
            <a:ext cx="3628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94038" y="3339405"/>
            <a:ext cx="807095" cy="241102"/>
          </a:xfrm>
          <a:prstGeom prst="roundRect">
            <a:avLst>
              <a:gd name="adj" fmla="val 6321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20988" y="3402806"/>
            <a:ext cx="5642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77333" y="3339405"/>
            <a:ext cx="513606" cy="241102"/>
          </a:xfrm>
          <a:prstGeom prst="roundRect">
            <a:avLst>
              <a:gd name="adj" fmla="val 6321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04283" y="3402806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67139" y="3339405"/>
            <a:ext cx="712887" cy="241102"/>
          </a:xfrm>
          <a:prstGeom prst="roundRect">
            <a:avLst>
              <a:gd name="adj" fmla="val 6321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94089" y="3402806"/>
            <a:ext cx="4681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EKS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56225" y="3339405"/>
            <a:ext cx="724049" cy="241102"/>
          </a:xfrm>
          <a:prstGeom prst="roundRect">
            <a:avLst>
              <a:gd name="adj" fmla="val 6321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83176" y="3402806"/>
            <a:ext cx="4795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56474" y="3339405"/>
            <a:ext cx="570161" cy="241102"/>
          </a:xfrm>
          <a:prstGeom prst="roundRect">
            <a:avLst>
              <a:gd name="adj" fmla="val 6321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83425" y="3402806"/>
            <a:ext cx="3225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02835" y="3339405"/>
            <a:ext cx="773162" cy="241102"/>
          </a:xfrm>
          <a:prstGeom prst="roundRect">
            <a:avLst>
              <a:gd name="adj" fmla="val 6321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29785" y="3402806"/>
            <a:ext cx="529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52197" y="3339405"/>
            <a:ext cx="575518" cy="241102"/>
          </a:xfrm>
          <a:prstGeom prst="roundRect">
            <a:avLst>
              <a:gd name="adj" fmla="val 6321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79147" y="3402806"/>
            <a:ext cx="328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4401" y="3656707"/>
            <a:ext cx="773311" cy="241102"/>
          </a:xfrm>
          <a:prstGeom prst="roundRect">
            <a:avLst>
              <a:gd name="adj" fmla="val 6321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1351" y="3720108"/>
            <a:ext cx="5297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1244203"/>
          <a:ext cx="8254901" cy="146045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822960"/>
                <a:gridCol w="1371600"/>
                <a:gridCol w="1371600"/>
              </a:tblGrid>
              <a:tr h="243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기술/제품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라이선스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Frontend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Vue.js 3, TypeScript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MIT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SPA 구조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Backend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Spring Boot, Java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3.2 / 17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Apache 2.0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MSA 구조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Database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PostgreSQL, Redis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16 / 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PostgreSQL / BSD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RDBMS + Cache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Infra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AWS (EKS, RDS, S3)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Commercial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클라우드 네이티브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AI/ML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Python, TensorFlow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3.11 / 2.15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PSF / Apache 2.0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수요예측, 경로최적화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2552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프로젝트 조직 및 역할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1851" y="27771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850850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조직별 역할 및 책임 (R&amp;R)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142851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3492103"/>
            <a:ext cx="8255198" cy="425351"/>
          </a:xfrm>
          <a:prstGeom prst="roundRect">
            <a:avLst>
              <a:gd name="adj" fmla="val 17915"/>
            </a:avLst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3619054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3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투입 인력:</a:t>
            </a:r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8명 / </a:t>
            </a:r>
            <a:pPr algn="l" indent="0" marL="0">
              <a:buNone/>
            </a:pPr>
            <a:r>
              <a:rPr lang="en-US" sz="1000" b="1" dirty="0">
                <a:solidFill>
                  <a:srgbClr val="153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투입 공수:</a:t>
            </a:r>
            <a:pPr algn="l" indent="0" marL="0">
              <a:buNone/>
            </a:pPr>
            <a:r>
              <a:rPr lang="en-US" sz="1000" dirty="0">
                <a:solidFill>
                  <a:srgbClr val="153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78MM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1269653"/>
          <a:ext cx="8254901" cy="20955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2743200"/>
                <a:gridCol w="1097280"/>
              </a:tblGrid>
              <a:tr h="2619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담당자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주요 책임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발주기관 PM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정민호 부장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프로젝트 총괄 관리, 의사결정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최종 승인권자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수행사 PM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김철수 차장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프로젝트 수행 총괄, 품질/위험 관리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현장 대리인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PMO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이영희 과장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프로젝트 관리 지원, 품질 검토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테크솔루션 PMO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AA (아키텍트)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박준형 책임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시스템 설계, 아키텍처 검토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MSA 전문가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개발 리더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최수진 선임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개발 총괄, 기술 이슈 해결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풀스택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QA 담당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한미영 대리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품질 관리, 테스트 총괄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ISTQB 자격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DBA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오현우 대리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DB 설계 및 튜닝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OCP 자격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17879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투입 인력 현황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1851" y="27771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850850"/>
          <a:ext cx="8254901" cy="317495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731520"/>
                <a:gridCol w="822960"/>
                <a:gridCol w="914400"/>
                <a:gridCol w="731520"/>
              </a:tblGrid>
              <a:tr h="352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분야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등급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성명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투입기간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투입률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PM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관리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특급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김철수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12개월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AA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설계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특급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박준형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10개월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PL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개발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고급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최수진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12개월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Dev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고급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임동현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10개월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Dev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중급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강서연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10개월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Dev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중급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윤재호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10개월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DBA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고급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오현우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8개월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QA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테스트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중급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한미영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6개월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17231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프로젝트 일정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1851" y="27771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825401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 일정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117402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3174504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진행 비율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3466505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4401" y="3618756"/>
            <a:ext cx="660350" cy="279350"/>
          </a:xfrm>
          <a:prstGeom prst="rect">
            <a:avLst/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005" y="3701207"/>
            <a:ext cx="3376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8%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04751" y="3618756"/>
            <a:ext cx="1403300" cy="2793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16125" y="3701207"/>
            <a:ext cx="388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17%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08052" y="3618756"/>
            <a:ext cx="1403300" cy="279350"/>
          </a:xfrm>
          <a:prstGeom prst="rect">
            <a:avLst/>
          </a:prstGeom>
          <a:solidFill>
            <a:srgbClr val="2D6B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19425" y="3701207"/>
            <a:ext cx="388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17%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911352" y="3618756"/>
            <a:ext cx="2724150" cy="2793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83225" y="3701207"/>
            <a:ext cx="388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33%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635502" y="3618756"/>
            <a:ext cx="990600" cy="279350"/>
          </a:xfrm>
          <a:prstGeom prst="rect">
            <a:avLst/>
          </a:prstGeom>
          <a:solidFill>
            <a:srgbClr val="6F88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96100" y="3701207"/>
            <a:ext cx="478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12%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626102" y="3618756"/>
            <a:ext cx="1073051" cy="279350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72425" y="3701207"/>
            <a:ext cx="388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 13%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1244203"/>
          <a:ext cx="8254901" cy="1777901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005840"/>
                <a:gridCol w="548640"/>
                <a:gridCol w="2468880"/>
              </a:tblGrid>
              <a:tr h="2539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시작일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종료일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주요 활동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2539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착수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2025-01-06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2025-01-31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4주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킥오프, 환경구축, 표준정의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9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분석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2025-02-01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2025-03-31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8주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요구사항 확정, 현행 분석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9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설계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2025-04-01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2025-05-31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8주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아키텍처/화면/DB 설계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9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개발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2025-06-01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2025-09-30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16주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코딩, 단위테스트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9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테스트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2025-10-01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2025-11-15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6주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통합/성능/인수 테스트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9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이행/안정화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2025-11-16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2025-12-31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6주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오픈, 운영이관, 안정화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17231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주요 마일스톤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11307" y="277713"/>
            <a:ext cx="396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80783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3457" y="890290"/>
            <a:ext cx="143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702" y="799951"/>
            <a:ext cx="113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착수보고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702" y="952351"/>
            <a:ext cx="1132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2025-01-10 | 수행계획서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4401" y="117931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3457" y="1261765"/>
            <a:ext cx="143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702" y="1171426"/>
            <a:ext cx="13392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확정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702" y="1323826"/>
            <a:ext cx="1339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2025-03-31 | 요구사항정의서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4401" y="155078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3457" y="1633240"/>
            <a:ext cx="143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702" y="1542901"/>
            <a:ext cx="1160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완료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702" y="1695301"/>
            <a:ext cx="1160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2025-05-31 | 설계서 일체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98950" y="80783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8007" y="890290"/>
            <a:ext cx="143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05251" y="799951"/>
            <a:ext cx="10286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완료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05251" y="952351"/>
            <a:ext cx="1028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2025-09-30 | 소스코드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98950" y="117931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8007" y="1261765"/>
            <a:ext cx="143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05251" y="1171426"/>
            <a:ext cx="12279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통합테스트 완료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05251" y="1323826"/>
            <a:ext cx="12279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2025-11-15 | 테스트결과서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98950" y="155078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8007" y="1633240"/>
            <a:ext cx="143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05251" y="1542901"/>
            <a:ext cx="113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오픈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05251" y="1695301"/>
            <a:ext cx="1132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2025-12-01 | 오픈보고서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4401" y="2015877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주요 목록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4401" y="2307878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4401" y="2434679"/>
            <a:ext cx="2667149" cy="973931"/>
          </a:xfrm>
          <a:prstGeom prst="roundRect">
            <a:avLst>
              <a:gd name="adj" fmla="val 6520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3926" y="2444204"/>
            <a:ext cx="2648099" cy="269677"/>
          </a:xfrm>
          <a:prstGeom prst="roundRect">
            <a:avLst>
              <a:gd name="adj" fmla="val 18837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7327" y="2507605"/>
            <a:ext cx="25717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착수/분석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3926" y="2713881"/>
            <a:ext cx="2648099" cy="6852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착수보고서</a:t>
            </a:r>
            <a:endParaRPr lang="en-US" sz="700" dirty="0"/>
          </a:p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수행계획서</a:t>
            </a:r>
            <a:endParaRPr lang="en-US" sz="700" dirty="0"/>
          </a:p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700" dirty="0"/>
          </a:p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현행시스템분석서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38500" y="2434679"/>
            <a:ext cx="2667149" cy="973931"/>
          </a:xfrm>
          <a:prstGeom prst="roundRect">
            <a:avLst>
              <a:gd name="adj" fmla="val 6520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248025" y="2444204"/>
            <a:ext cx="2648099" cy="269677"/>
          </a:xfrm>
          <a:prstGeom prst="roundRect">
            <a:avLst>
              <a:gd name="adj" fmla="val 18837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11426" y="2507605"/>
            <a:ext cx="25717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설계/개발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48025" y="2713881"/>
            <a:ext cx="2648099" cy="6852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아키텍처설계서</a:t>
            </a:r>
            <a:endParaRPr lang="en-US" sz="700" dirty="0"/>
          </a:p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데이터베이스설계서</a:t>
            </a:r>
            <a:endParaRPr lang="en-US" sz="700" dirty="0"/>
          </a:p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</a:t>
            </a:r>
            <a:endParaRPr lang="en-US" sz="700" dirty="0"/>
          </a:p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32599" y="2434679"/>
            <a:ext cx="2667149" cy="973931"/>
          </a:xfrm>
          <a:prstGeom prst="roundRect">
            <a:avLst>
              <a:gd name="adj" fmla="val 6520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42124" y="2444204"/>
            <a:ext cx="2648099" cy="269677"/>
          </a:xfrm>
          <a:prstGeom prst="roundRect">
            <a:avLst>
              <a:gd name="adj" fmla="val 18837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05525" y="2507605"/>
            <a:ext cx="25717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테스트/완료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42124" y="2713881"/>
            <a:ext cx="2648099" cy="5520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통합테스트결과서</a:t>
            </a:r>
            <a:endParaRPr lang="en-US" sz="700" dirty="0"/>
          </a:p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운영자매뉴얼</a:t>
            </a:r>
            <a:endParaRPr lang="en-US" sz="700" dirty="0"/>
          </a:p>
          <a:p>
            <a:pPr algn="l" marL="114300" indent="-114300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완료보고서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20857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품질 및 보안 관리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0683" y="277713"/>
            <a:ext cx="3864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850850"/>
            <a:ext cx="4080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보증 활동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142851"/>
            <a:ext cx="4000649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98950" y="850850"/>
            <a:ext cx="4080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관리 계획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98950" y="1142851"/>
            <a:ext cx="4000649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1269653"/>
          <a:ext cx="3746450" cy="1396901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645920"/>
              </a:tblGrid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활동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시기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산출물 검토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단계별 말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발주 담당자 검토/승인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코드 리뷰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개발 기간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GitHub PR, 2인 이상 승인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정적 분석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개발 기간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SonarQube 품질 게이트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테스트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통합/인수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시나리오 기반 테스트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8950" y="1269653"/>
          <a:ext cx="3746450" cy="1396901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</a:tblGrid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보안 대책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인적 보안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보안서약서, 보안 교육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물리 보안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통제구역 출입 관리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기술 보안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OWASP Top 10 점검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PC 보안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백신, DLP 솔루션 적용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12567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위험 관리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11307" y="277713"/>
            <a:ext cx="396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799951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위험 및 대응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091952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2780705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통제 절차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3072705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9302" y="3262908"/>
            <a:ext cx="6985397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2825" y="319950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01" y="3402657"/>
            <a:ext cx="1987600" cy="549176"/>
          </a:xfrm>
          <a:prstGeom prst="roundRect">
            <a:avLst>
              <a:gd name="adj" fmla="val 9250"/>
            </a:avLst>
          </a:prstGeom>
          <a:solidFill>
            <a:srgbClr val="FFFFFF"/>
          </a:solidFill>
          <a:ln w="9525">
            <a:solidFill>
              <a:srgbClr val="2252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0064" y="3488382"/>
            <a:ext cx="1852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변경 요청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0064" y="3656558"/>
            <a:ext cx="1852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접수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(Jira 티켓)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476625" y="319950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46300" y="3402657"/>
            <a:ext cx="1987600" cy="549176"/>
          </a:xfrm>
          <a:prstGeom prst="roundRect">
            <a:avLst>
              <a:gd name="adj" fmla="val 9250"/>
            </a:avLst>
          </a:prstGeom>
          <a:solidFill>
            <a:srgbClr val="FFFFFF"/>
          </a:solidFill>
          <a:ln w="9525">
            <a:solidFill>
              <a:srgbClr val="2252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13864" y="3488382"/>
            <a:ext cx="1852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영향도 분석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13864" y="3656558"/>
            <a:ext cx="1852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일정/비용/품질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(3일 내)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540425" y="319950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10100" y="3402657"/>
            <a:ext cx="1987600" cy="549176"/>
          </a:xfrm>
          <a:prstGeom prst="roundRect">
            <a:avLst>
              <a:gd name="adj" fmla="val 9250"/>
            </a:avLst>
          </a:prstGeom>
          <a:solidFill>
            <a:srgbClr val="FFFFFF"/>
          </a:solidFill>
          <a:ln w="9525">
            <a:solidFill>
              <a:srgbClr val="2252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77664" y="3488382"/>
            <a:ext cx="1852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승인/반려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77664" y="3656558"/>
            <a:ext cx="1852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 의사결정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 1회)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7604224" y="319950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73900" y="3402657"/>
            <a:ext cx="1987600" cy="549176"/>
          </a:xfrm>
          <a:prstGeom prst="roundRect">
            <a:avLst>
              <a:gd name="adj" fmla="val 9250"/>
            </a:avLst>
          </a:prstGeom>
          <a:solidFill>
            <a:srgbClr val="FFFFFF"/>
          </a:solidFill>
          <a:ln w="9525">
            <a:solidFill>
              <a:srgbClr val="2252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41463" y="3488382"/>
            <a:ext cx="1852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변경 이행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41463" y="3656558"/>
            <a:ext cx="1852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반영 및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현행화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1218754"/>
          <a:ext cx="8254901" cy="146045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640080"/>
                <a:gridCol w="2834640"/>
                <a:gridCol w="548640"/>
              </a:tblGrid>
              <a:tr h="2434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위험 요소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영향도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발생확률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대응 방안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담당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요구사항 변경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</a:rPr>
                        <a:t>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</a:rPr>
                        <a:t>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변경관리위원회(CCB), 영향도 분석 필수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일정 지연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</a:rPr>
                        <a:t>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67E22"/>
                          </a:solidFill>
                        </a:rPr>
                        <a:t>중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주간 진척관리, Critical Path 집중 모니터링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기술적 난제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67E22"/>
                          </a:solidFill>
                        </a:rPr>
                        <a:t>중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67E22"/>
                          </a:solidFill>
                        </a:rPr>
                        <a:t>중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PoC 선행, 외부 전문가 자문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AA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인력 이탈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</a:rPr>
                        <a:t>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하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대체 인력 풀 확보, 기술 문서화 강화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4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3325"/>
                          </a:solidFill>
                        </a:rPr>
                        <a:t>데이터 마이그레이션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</a:rPr>
                        <a:t>상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67E22"/>
                          </a:solidFill>
                        </a:rPr>
                        <a:t>중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사전 검증, 롤백 계획 수립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DBA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20211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교육 및 기술이전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11307" y="277713"/>
            <a:ext cx="396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799951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훈련 계획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091952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2361605"/>
            <a:ext cx="4080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기술이전 계획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2653605"/>
            <a:ext cx="4000649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4401" y="2780407"/>
            <a:ext cx="4000649" cy="7096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44401" y="2785170"/>
            <a:ext cx="4000649" cy="0"/>
          </a:xfrm>
          <a:prstGeom prst="line">
            <a:avLst/>
          </a:prstGeom>
          <a:noFill/>
          <a:ln w="9525">
            <a:solidFill>
              <a:srgbClr val="8BA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0287" y="2780407"/>
            <a:ext cx="0" cy="709612"/>
          </a:xfrm>
          <a:prstGeom prst="line">
            <a:avLst/>
          </a:prstGeom>
          <a:noFill/>
          <a:ln w="9525">
            <a:solidFill>
              <a:srgbClr val="8BAF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401" y="3485257"/>
            <a:ext cx="4000649" cy="0"/>
          </a:xfrm>
          <a:prstGeom prst="line">
            <a:avLst/>
          </a:prstGeom>
          <a:noFill/>
          <a:ln w="9525">
            <a:solidFill>
              <a:srgbClr val="8BAF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451" y="2780407"/>
            <a:ext cx="0" cy="709612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4002" y="2891433"/>
            <a:ext cx="3750022" cy="48756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대상: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시스템 소스코드, 설계 산출물, 운영 매뉴얼 일체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방법: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담당자 1:1 멘토링 및 인계인수서 작성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기간: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시스템 안정화 기간 (오픈 후 3개월)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98950" y="2361605"/>
            <a:ext cx="4080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협조 요청 사항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98950" y="2653605"/>
            <a:ext cx="4000649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98950" y="2780407"/>
            <a:ext cx="4000649" cy="87213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98950" y="2785170"/>
            <a:ext cx="4000649" cy="0"/>
          </a:xfrm>
          <a:prstGeom prst="line">
            <a:avLst/>
          </a:prstGeom>
          <a:noFill/>
          <a:ln w="9525">
            <a:solidFill>
              <a:srgbClr val="8BAF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94837" y="2780407"/>
            <a:ext cx="0" cy="872133"/>
          </a:xfrm>
          <a:prstGeom prst="line">
            <a:avLst/>
          </a:prstGeom>
          <a:noFill/>
          <a:ln w="9525">
            <a:solidFill>
              <a:srgbClr val="8BA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8950" y="3647777"/>
            <a:ext cx="4000649" cy="0"/>
          </a:xfrm>
          <a:prstGeom prst="line">
            <a:avLst/>
          </a:prstGeom>
          <a:noFill/>
          <a:ln w="9525">
            <a:solidFill>
              <a:srgbClr val="8B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18000" y="2780407"/>
            <a:ext cx="0" cy="872133"/>
          </a:xfrm>
          <a:prstGeom prst="line">
            <a:avLst/>
          </a:prstGeom>
          <a:noFill/>
          <a:ln w="38100">
            <a:solidFill>
              <a:srgbClr val="225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8551" y="2891433"/>
            <a:ext cx="3750022" cy="65008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환경: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프로젝트 룸, VPN, 출입증 (10석)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데이터: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테스트용 샘플 데이터 (비식별화)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인프라: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AWS 계정 및 권한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참여: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요구사항 인터뷰, UAT 지원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1218754"/>
          <a:ext cx="8254901" cy="1015901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005840"/>
                <a:gridCol w="2560320"/>
              </a:tblGrid>
              <a:tr h="2539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교육명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대상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시기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2539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사용자 교육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현업 담당자 30명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오픈 2주 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시스템 주요 기능 및 사용법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9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운영자 교육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IT 운영팀 5명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오픈 3주 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시스템 구성, 백업/복구, 장애대응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9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3325"/>
                          </a:solidFill>
                        </a:rPr>
                        <a:t>관리자 교육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관리자 10명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오픈 1주 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권한 관리, 리포트 활용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6751"/>
            <a:ext cx="2552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의사소통 및 보고 체계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11307" y="277713"/>
            <a:ext cx="396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4401" y="799951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 및 회의 체계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091952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1218754"/>
            <a:ext cx="1968550" cy="1018431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3926" y="1228279"/>
            <a:ext cx="1949500" cy="320278"/>
          </a:xfrm>
          <a:prstGeom prst="roundRect">
            <a:avLst>
              <a:gd name="adj" fmla="val 1586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9100" y="1316980"/>
            <a:ext cx="1859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4431" y="1624757"/>
            <a:ext cx="1988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09:30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4431" y="1792932"/>
            <a:ext cx="1988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4431" y="1986558"/>
            <a:ext cx="1988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현황, 블로커 공유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39901" y="1218754"/>
            <a:ext cx="1968550" cy="1018431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49426" y="1228279"/>
            <a:ext cx="1949500" cy="320278"/>
          </a:xfrm>
          <a:prstGeom prst="roundRect">
            <a:avLst>
              <a:gd name="adj" fmla="val 1586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94600" y="1316980"/>
            <a:ext cx="1859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주간보고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29931" y="1624757"/>
            <a:ext cx="1988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금 14:00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29931" y="1792932"/>
            <a:ext cx="1988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PM, 발주PM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29931" y="1986558"/>
            <a:ext cx="1988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실적/계획, 이슈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635401" y="1218754"/>
            <a:ext cx="1968550" cy="1018431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44926" y="1228279"/>
            <a:ext cx="1949500" cy="320278"/>
          </a:xfrm>
          <a:prstGeom prst="roundRect">
            <a:avLst>
              <a:gd name="adj" fmla="val 1586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90100" y="1316980"/>
            <a:ext cx="1859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월간보고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25431" y="1624757"/>
            <a:ext cx="1988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5431" y="1792932"/>
            <a:ext cx="1988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5431" y="1986558"/>
            <a:ext cx="1988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마일스톤, 리스크 보고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730901" y="1218754"/>
            <a:ext cx="1968550" cy="1018431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40426" y="1228279"/>
            <a:ext cx="1949500" cy="320278"/>
          </a:xfrm>
          <a:prstGeom prst="roundRect">
            <a:avLst>
              <a:gd name="adj" fmla="val 1586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85600" y="1316980"/>
            <a:ext cx="1859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스프린트 리뷰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20931" y="1624757"/>
            <a:ext cx="1988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격주 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20931" y="1792932"/>
            <a:ext cx="1988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20931" y="1986558"/>
            <a:ext cx="1988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데모, 피드백 수렴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44401" y="2389584"/>
            <a:ext cx="84203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의사소통 채널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4401" y="2681585"/>
            <a:ext cx="8255198" cy="25301"/>
          </a:xfrm>
          <a:prstGeom prst="rect">
            <a:avLst/>
          </a:prstGeom>
          <a:solidFill>
            <a:srgbClr val="8BA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4401" y="2808387"/>
            <a:ext cx="2667149" cy="590401"/>
          </a:xfrm>
          <a:prstGeom prst="roundRect">
            <a:avLst>
              <a:gd name="adj" fmla="val 10755"/>
            </a:avLst>
          </a:prstGeom>
          <a:solidFill>
            <a:srgbClr val="E8F5E9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56934" y="2944862"/>
            <a:ext cx="24420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문서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6934" y="3148013"/>
            <a:ext cx="2442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Confluence, SharePoint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38500" y="2808387"/>
            <a:ext cx="2667149" cy="590401"/>
          </a:xfrm>
          <a:prstGeom prst="roundRect">
            <a:avLst>
              <a:gd name="adj" fmla="val 10755"/>
            </a:avLst>
          </a:prstGeom>
          <a:solidFill>
            <a:srgbClr val="E8F5E9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51033" y="2944862"/>
            <a:ext cx="24420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 커뮤니케이션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51033" y="3148013"/>
            <a:ext cx="2442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Teams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32599" y="2808387"/>
            <a:ext cx="2667149" cy="590401"/>
          </a:xfrm>
          <a:prstGeom prst="roundRect">
            <a:avLst>
              <a:gd name="adj" fmla="val 10755"/>
            </a:avLst>
          </a:prstGeom>
          <a:solidFill>
            <a:srgbClr val="E8F5E9"/>
          </a:solidFill>
          <a:ln w="9525">
            <a:solidFill>
              <a:srgbClr val="8BAFA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45133" y="2944862"/>
            <a:ext cx="24420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25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 관리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45133" y="3148013"/>
            <a:ext cx="2442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Jira, GitHub Issues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4401" y="4927699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090023" y="4927699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수행계획서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5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5271" y="1471761"/>
            <a:ext cx="181345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42039" y="2138511"/>
            <a:ext cx="2659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1200" dirty="0">
                <a:solidFill>
                  <a:srgbClr val="8BA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프로젝트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420259" y="2655987"/>
            <a:ext cx="230333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수행사:</a:t>
            </a:r>
            <a:pPr algn="ctr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(주)테크솔루션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20259" y="2909888"/>
            <a:ext cx="230333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PM:</a:t>
            </a:r>
            <a:pPr algn="ctr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김철수 차장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20259" y="3163788"/>
            <a:ext cx="230333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문서번호:</a:t>
            </a:r>
            <a:pPr algn="ctr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DOC-PRJ-2025-001-001 v1.0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0259" y="3417689"/>
            <a:ext cx="230333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작성일:</a:t>
            </a:r>
            <a:pPr algn="ctr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2025-01-03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(주)테크솔루션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프로젝트 수행계획서</dc:title>
  <dc:subject>프로젝트 수행계획서</dc:subject>
  <dc:creator>(주)테크솔루션</dc:creator>
  <cp:lastModifiedBy>(주)테크솔루션</cp:lastModifiedBy>
  <cp:revision>1</cp:revision>
  <dcterms:created xsi:type="dcterms:W3CDTF">2026-01-18T13:15:47Z</dcterms:created>
  <dcterms:modified xsi:type="dcterms:W3CDTF">2026-01-18T13:15:47Z</dcterms:modified>
</cp:coreProperties>
</file>